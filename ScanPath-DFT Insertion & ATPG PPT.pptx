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962" y="2153691"/>
            <a:ext cx="288607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5541" y="2639466"/>
            <a:ext cx="7340917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8FAFC"/>
                </a:solidFill>
                <a:latin typeface="Poppins"/>
              </a:rPr>
              <a:t>ScanPath-DFT Insertion &amp;</a:t>
            </a:r>
            <a:r>
              <a:t>
</a:t>
            </a:r>
            <a:r>
              <a:rPr sz="4200" b="1" i="0" u="none">
                <a:solidFill>
                  <a:srgbClr val="F8FAFC"/>
                </a:solidFill>
                <a:latin typeface="Poppins"/>
              </a:rPr>
              <a:t> ATPG Coverage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4018508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Lato"/>
              </a:rPr>
              <a:t>End-to-End Implementation of Scan Architecture, Automatic Test Pattern Generation, Rule Verification, and Fault Coverage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52675"/>
            <a:ext cx="5343525" cy="2905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352675"/>
            <a:ext cx="5343525" cy="2790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5350" y="2667000"/>
            <a:ext cx="4950618" cy="33337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" y="3114675"/>
            <a:ext cx="47148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Lato"/>
              </a:rPr>
              <a:t>Modern VLSI chips contain millions of gates, making functional post-fabrication testing virtually impossible. This project transforms sequential netlists into structured scan architectures to enable full internal controllability and observability.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4143375"/>
            <a:ext cx="47148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Lato"/>
              </a:rPr>
              <a:t>By replacing standard flip-flops with multiplexed Scan Flip-Flops and stitching them into scan chains, automated test equipment (ATE) can detect structural manufacturing defects.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667000"/>
            <a:ext cx="4950618" cy="33337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Key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114675"/>
            <a:ext cx="4714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Lato"/>
              </a:rPr>
              <a:t>High Fault Coverage: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Achieve &gt;98% Stuck-At and &gt;92% Transition Delay fault coverage across all testable clock domains.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686175"/>
            <a:ext cx="4714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Lato"/>
              </a:rPr>
              <a:t>Pattern &amp; Overhead Optimization: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Minimize total test pattern count to reduce ATE test cost while maintaining &lt;2% silicon area overhead.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257675"/>
            <a:ext cx="4714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Lato"/>
              </a:rPr>
              <a:t>DRC Clean Design: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Guarantee zero DFT violations for asynchronous clock/reset lines and tri-state internal buses.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2714625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714625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375" y="485775"/>
            <a:ext cx="1144143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Project Overview &amp;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528887"/>
          <a:ext cx="11029948" cy="255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6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1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Input / Artifact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Technical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Project Deliverable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Netlist &amp; Constraints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Gate-level Netlist (.v) &amp; SDC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Synthesized gate netlist &amp; target timing constraints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Scan-inserted verilog netlist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Library Models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Liberty (.lib) &amp; DFT 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Standard cell timing, functional &amp; scan FF models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Updated SDC with test mode constraints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Test Protocol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STIL / WGL Test Vectors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ATE execution procedures and signal timing setup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ATPG pattern suite (STIL &amp; IEEE 1450)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Lato"/>
                        </a:rPr>
                        <a:t>Verification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Zero-Delay Simulation TB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Validate generated patterns against gate-level netlist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Lato"/>
                        </a:rPr>
                        <a:t>ScanDEF file &amp; Coverage summary reports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3048000"/>
            <a:ext cx="17968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377826" y="3048000"/>
            <a:ext cx="22269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604742" y="3048000"/>
            <a:ext cx="385182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56562" y="3048000"/>
            <a:ext cx="31544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552825"/>
            <a:ext cx="17968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77826" y="3552825"/>
            <a:ext cx="22269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04742" y="3552825"/>
            <a:ext cx="385182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456562" y="3552825"/>
            <a:ext cx="31544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4057650"/>
            <a:ext cx="17968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377826" y="4057650"/>
            <a:ext cx="22269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604742" y="4057650"/>
            <a:ext cx="385182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456562" y="4057650"/>
            <a:ext cx="31544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562475"/>
            <a:ext cx="17968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377826" y="4562475"/>
            <a:ext cx="22269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04742" y="4562475"/>
            <a:ext cx="385182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56562" y="4562475"/>
            <a:ext cx="31544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5067300"/>
            <a:ext cx="179680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377826" y="5067300"/>
            <a:ext cx="222691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04742" y="5067300"/>
            <a:ext cx="385182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6562" y="5067300"/>
            <a:ext cx="315441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4375" y="485775"/>
            <a:ext cx="1144143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Prerequisites &amp; Deliverables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037" y="2376487"/>
            <a:ext cx="2857500" cy="2857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67450" y="2609850"/>
            <a:ext cx="561070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Multiplexed Scan Flip-Flop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7450" y="3057525"/>
            <a:ext cx="5343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Lato"/>
              </a:rPr>
              <a:t>The standard D-flip-flop is upgraded to a Scan Flip-Flop by integrating a 2:1 multiplexer at the data input, controlled by the </a:t>
            </a:r>
            <a:r>
              <a:rPr sz="1200" b="1" i="0" u="none">
                <a:solidFill>
                  <a:srgbClr val="94A3B8"/>
                </a:solidFill>
                <a:latin typeface="Lato"/>
              </a:rPr>
              <a:t>Scan Enable (SE)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450" y="3629025"/>
            <a:ext cx="53435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Lato"/>
              </a:rPr>
              <a:t>During </a:t>
            </a:r>
            <a:r>
              <a:rPr sz="1200" b="1" i="0" u="none">
                <a:solidFill>
                  <a:srgbClr val="94A3B8"/>
                </a:solidFill>
                <a:latin typeface="Lato"/>
              </a:rPr>
              <a:t>Functional Mode (SE = 0)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, the flip-flop latches system data (D). During </a:t>
            </a:r>
            <a:r>
              <a:rPr sz="1200" b="1" i="0" u="none">
                <a:solidFill>
                  <a:srgbClr val="94A3B8"/>
                </a:solidFill>
                <a:latin typeface="Lato"/>
              </a:rPr>
              <a:t>Shift Mode (SE = 1)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, test vectors are shifted in via </a:t>
            </a:r>
            <a:r>
              <a:rPr sz="1200" b="1" i="0" u="none">
                <a:solidFill>
                  <a:srgbClr val="94A3B8"/>
                </a:solidFill>
                <a:latin typeface="Lato"/>
              </a:rPr>
              <a:t>Scan In (SI)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and shifted out via </a:t>
            </a:r>
            <a:r>
              <a:rPr sz="1200" b="1" i="0" u="none">
                <a:solidFill>
                  <a:srgbClr val="94A3B8"/>
                </a:solidFill>
                <a:latin typeface="Lato"/>
              </a:rPr>
              <a:t>Scan Out (SO)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4429125"/>
            <a:ext cx="5343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Lato"/>
              </a:rPr>
              <a:t>This simple silicon change converts hard-to-test sequential logic into easily testable combinational logic during ATE testing.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137" y="2414587"/>
            <a:ext cx="2781300" cy="2781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4375" y="485775"/>
            <a:ext cx="1144143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Scan Architecture &amp; Cells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90775"/>
            <a:ext cx="3524250" cy="2828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390775"/>
            <a:ext cx="3524250" cy="2828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390775"/>
            <a:ext cx="3524250" cy="2828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667000"/>
            <a:ext cx="571500" cy="64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467100"/>
            <a:ext cx="223027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RTL &amp; Netlist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914775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Lato"/>
              </a:rPr>
              <a:t>Analyze design hierarchy, identify non-scan elements (memories, latches, IP blocks), and define scan register inclusion/exclusion lists.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2667000"/>
            <a:ext cx="571500" cy="647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3467100"/>
            <a:ext cx="269033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DFT Rule Check (DRC)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14775"/>
            <a:ext cx="3048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Lato"/>
              </a:rPr>
              <a:t>Run pre-scan DRCs to detect uncontrollable clocks, asynchronous resets, combinational feedback loops, and floating internal nodes.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4850" y="2667000"/>
            <a:ext cx="571500" cy="647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4850" y="3467100"/>
            <a:ext cx="278034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Clock &amp; Reset Override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4850" y="3914775"/>
            <a:ext cx="3048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Lato"/>
              </a:rPr>
              <a:t>Insert test control logic (test clocks &amp; reset override muxes) to ensure external ATE control over all storage flip-flops during shift mode.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2828925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86300" y="2828925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9150" y="2828925"/>
            <a:ext cx="342900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4375" y="485775"/>
            <a:ext cx="1144143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Phase 1: Testability Prep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4375" y="485775"/>
            <a:ext cx="5450681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Phase 2: Scan Insertion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1238250"/>
            <a:ext cx="559069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Scan Stitching &amp; Compression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685925"/>
            <a:ext cx="53244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During Phase 2, standard flip-flops are mapped to scan cells and stitched into balanced scan chains based on clock domain and physical layout proximity.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287785"/>
            <a:ext cx="53244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Lockup latches are automatically inserted between cross-clock domain boundaries to eliminate setup/hold skew issues during high-speed shift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133427"/>
            <a:ext cx="53244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Embedded deterministic test (EDT) compression is integrated to maximize scan chain count while utilizing minimal top-level test pins.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38250"/>
            <a:ext cx="11029950" cy="51339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710112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>
                <a:solidFill>
                  <a:srgbClr val="94A3B8"/>
                </a:solidFill>
                <a:latin typeface="Lato"/>
              </a:rPr>
              <a:t>ATPG pattern generation targeted structural Stuck-At and At-Speed Transition Delay fault models. Dynamic pattern compression significantly reduced test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75" y="485775"/>
            <a:ext cx="1144143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Phase 3: ATPG &amp; Simulation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081" y="5154810"/>
            <a:ext cx="4503687" cy="4441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238250"/>
            <a:ext cx="11029950" cy="5133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4106" y="5278635"/>
            <a:ext cx="4103637" cy="1964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85775"/>
            <a:ext cx="1144143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Phase 4: Coverage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043362"/>
            <a:ext cx="2536775" cy="103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528887"/>
            <a:ext cx="2536775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043362"/>
            <a:ext cx="2536775" cy="1038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528887"/>
            <a:ext cx="2536775" cy="10382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786187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7626" y="4205287"/>
            <a:ext cx="2323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oppins SemiBold"/>
              </a:rPr>
              <a:t>Step 1: Prep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519612"/>
            <a:ext cx="2212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Lato"/>
              </a:rPr>
              <a:t>Netlist audit, test control clock/reset insertion &amp; pre-scan DRC clean.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635" y="2690812"/>
            <a:ext cx="2323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oppins SemiBold"/>
              </a:rPr>
              <a:t>Step 2: Insertion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958" y="3005137"/>
            <a:ext cx="2212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Lato"/>
              </a:rPr>
              <a:t>Scan cell replacement, chain stitching &amp; lockup latch placement.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644" y="4205287"/>
            <a:ext cx="2323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oppins SemiBold"/>
              </a:rPr>
              <a:t>Step 3: ATPG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4967" y="4519612"/>
            <a:ext cx="2212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Lato"/>
              </a:rPr>
              <a:t>Vector generation for Stuck-at/At-Speed &amp; fault simulation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652" y="2690812"/>
            <a:ext cx="2323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oppins SemiBold"/>
              </a:rPr>
              <a:t>Step 4: Sign-off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975" y="3005137"/>
            <a:ext cx="2212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Lato"/>
              </a:rPr>
              <a:t>STIL export, zero-delay timing simulation &amp; layout handoff.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75" y="485775"/>
            <a:ext cx="1144143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DFT Execution Roadmap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754162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85171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416179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47188" y="370998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00250" y="2490787"/>
            <a:ext cx="86201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Lato"/>
              </a:rPr>
              <a:t>Test Point Insertion (TPI):</a:t>
            </a:r>
            <a:r>
              <a:rPr sz="1275" b="0" i="0" u="none">
                <a:solidFill>
                  <a:srgbClr val="CBD5E1"/>
                </a:solidFill>
                <a:latin typeface="Lato"/>
              </a:rPr>
              <a:t> Added control and observe test points in deep combinational cones to unlock previously untestable shadow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250" y="3148012"/>
            <a:ext cx="86201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Lato"/>
              </a:rPr>
              <a:t>Asynchronous Reset Gating:</a:t>
            </a:r>
            <a:r>
              <a:rPr sz="1275" b="0" i="0" u="none">
                <a:solidFill>
                  <a:srgbClr val="CBD5E1"/>
                </a:solidFill>
                <a:latin typeface="Lato"/>
              </a:rPr>
              <a:t> Enforced dedicated test-mode overrides on RAM/IP reset lines to prevent random register resets during shift sequence.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250" y="3805237"/>
            <a:ext cx="86201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Lato"/>
              </a:rPr>
              <a:t>Tri-State &amp; Bus Contention Control:</a:t>
            </a:r>
            <a:r>
              <a:rPr sz="1275" b="0" i="0" u="none">
                <a:solidFill>
                  <a:srgbClr val="CBD5E1"/>
                </a:solidFill>
                <a:latin typeface="Lato"/>
              </a:rPr>
              <a:t> Disabled internal bus drivers during test shift mode to prevent high-current physical contention damage.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250" y="4462462"/>
            <a:ext cx="862012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Lato"/>
              </a:rPr>
              <a:t>Power-Aware Scan Shift:</a:t>
            </a:r>
            <a:r>
              <a:rPr sz="1275" b="0" i="0" u="none">
                <a:solidFill>
                  <a:srgbClr val="CBD5E1"/>
                </a:solidFill>
                <a:latin typeface="Lato"/>
              </a:rPr>
              <a:t> Configured scan chain interleaving to prevent IR-drop violations caused by high switching activity during ATPG pattern shift.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2514600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625" y="3171825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3829050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4486275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4375" y="485775"/>
            <a:ext cx="1144143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Coverage Optimization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24150"/>
            <a:ext cx="5343525" cy="1866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3019425"/>
            <a:ext cx="4752975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sz="7500" b="1" i="0" u="none">
                <a:solidFill>
                  <a:srgbClr val="06B6D4"/>
                </a:solidFill>
                <a:latin typeface="Poppins"/>
              </a:rPr>
              <a:t>98.4%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4067175"/>
            <a:ext cx="47529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8FAFC"/>
                </a:solidFill>
                <a:latin typeface="Lato SemiBold"/>
              </a:rPr>
              <a:t>Stuck-At Fault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7450" y="2724150"/>
            <a:ext cx="561070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oppins SemiBold"/>
              </a:rPr>
              <a:t>Silicon Impact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7450" y="3171825"/>
            <a:ext cx="5343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Lato"/>
              </a:rPr>
              <a:t>384 Stitched Scan Chains: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Perfectly balanced chain lengths across 3 main functional clock domains.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7450" y="3743325"/>
            <a:ext cx="5343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Lato"/>
              </a:rPr>
              <a:t>1.64% Area Overhead: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Minimal silicon die penalty added by multiplexed scan flip-flops and test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4314825"/>
            <a:ext cx="5343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Lato"/>
              </a:rPr>
              <a:t>65% Vector Reduction:</a:t>
            </a:r>
            <a:r>
              <a:rPr sz="1200" b="0" i="0" u="none">
                <a:solidFill>
                  <a:srgbClr val="94A3B8"/>
                </a:solidFill>
                <a:latin typeface="Lato"/>
              </a:rPr>
              <a:t> EDT compression compressed test pattern volume, substantially lowering ATE test time costs.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485775"/>
            <a:ext cx="1144143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Key Performance Metrics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485775"/>
            <a:ext cx="38100" cy="523875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767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2026-08-30T06:26:40Z</dcterms:modified>
  <cp:category/>
</cp:coreProperties>
</file>